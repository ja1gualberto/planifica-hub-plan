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ns1="http://schemas.openxmlformats.org/officeDocument/2006/relationships" xmlns:p="http://schemas.openxmlformats.org/presentationml/2006/main">
  <p:sldMasterIdLst>
    <p:sldMasterId id="2147483648" ns1:id="rId2"/>
  </p:sldMasterIdLst>
  <p:sldIdLst>
    <p:sldId id="256" ns1:id="rId3"/>
  </p:sldIdLst>
  <p:sldSz cx="12096000" cy="6804000" type="screen16x9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9D52F2-641D-4176-A616-159D640355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AE7B7D7-F3B1-4F96-9563-DFA72628E7A0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chOff x="0" y="0"/>
          <a:ext cx="0" c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096000" cy="6804000"/>
          </a:xfrm>
          <a:prstGeom prst="rect">
            <a:avLst/>
          </a:prstGeom>
          <a:solidFill>
            <a:srgbClr val="101827"/>
          </a:solidFill>
          <a:ln w="11340">
            <a:noFill/>
          </a:ln>
        </p:spPr>
      </p:sp>
      <p:sp>
        <p:nvSpPr>
          <p:cNvPr id="3" name="rect"/>
          <p:cNvSpPr/>
          <p:nvPr/>
        </p:nvSpPr>
        <p:spPr>
          <a:xfrm>
            <a:off x="483840" y="332640"/>
            <a:ext cx="37800" cy="151200"/>
          </a:xfrm>
          <a:prstGeom prst="roundRect">
            <a:avLst>
              <a:gd name="adj" fmla="val 40000"/>
            </a:avLst>
          </a:prstGeom>
          <a:solidFill>
            <a:srgbClr val="69DEC0"/>
          </a:solidFill>
          <a:ln w="11340">
            <a:noFill/>
          </a:ln>
        </p:spPr>
      </p:sp>
      <p:sp>
        <p:nvSpPr>
          <p:cNvPr id="4" name="PLANIFICA HUB  /  ARQUITETURA"/>
          <p:cNvSpPr txBox="1"/>
          <p:nvPr/>
        </p:nvSpPr>
        <p:spPr>
          <a:xfrm>
            <a:off x="619920" y="342317"/>
            <a:ext cx="10584000" cy="18144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952" b="1">
                <a:solidFill>
                  <a:srgbClr val="B9C6D9"/>
                </a:solidFill>
                <a:latin typeface="Liberation Sans"/>
              </a:rPr>
              <a:t>PLANIFICA HUB  /  ARQUITETURA</a:t>
            </a:r>
          </a:p>
        </p:txBody>
      </p:sp>
      <p:sp>
        <p:nvSpPr>
          <p:cNvPr id="5" name="rect"/>
          <p:cNvSpPr/>
          <p:nvPr/>
        </p:nvSpPr>
        <p:spPr>
          <a:xfrm>
            <a:off x="10054800" y="287280"/>
            <a:ext cx="1557360" cy="272160"/>
          </a:xfrm>
          <a:prstGeom prst="roundRect">
            <a:avLst>
              <a:gd name="adj" fmla="val 50000"/>
            </a:avLst>
          </a:prstGeom>
          <a:solidFill>
            <a:srgbClr val="263044"/>
          </a:solidFill>
          <a:ln w="11340">
            <a:noFill/>
          </a:ln>
        </p:spPr>
      </p:sp>
      <p:sp>
        <p:nvSpPr>
          <p:cNvPr id="6" name="EM AVALIAÇÃO"/>
          <p:cNvSpPr txBox="1"/>
          <p:nvPr/>
        </p:nvSpPr>
        <p:spPr>
          <a:xfrm>
            <a:off x="10206000" y="357437"/>
            <a:ext cx="1360800" cy="18144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952" b="1">
                <a:solidFill>
                  <a:srgbClr val="D8C9FF"/>
                </a:solidFill>
                <a:latin typeface="Liberation Sans"/>
              </a:rPr>
              <a:t>EM AVALIAÇÃO</a:t>
            </a:r>
          </a:p>
        </p:txBody>
      </p:sp>
      <p:sp>
        <p:nvSpPr>
          <p:cNvPr id="7" name="Duas propostas. A mesma experiência integrada."/>
          <p:cNvSpPr txBox="1"/>
          <p:nvPr/>
        </p:nvSpPr>
        <p:spPr>
          <a:xfrm>
            <a:off x="483840" y="617501"/>
            <a:ext cx="10584000" cy="52164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738" b="1">
                <a:solidFill>
                  <a:srgbClr val="F5F7FC"/>
                </a:solidFill>
                <a:latin typeface="Liberation Sans"/>
              </a:rPr>
              <a:t>Duas propostas. A mesma experiência integrada.</a:t>
            </a:r>
          </a:p>
        </p:txBody>
      </p:sp>
      <p:sp>
        <p:nvSpPr>
          <p:cNvPr id="8" name="O que muda é a organização do código — não a obrigação de publicar tudo junto."/>
          <p:cNvSpPr txBox="1"/>
          <p:nvPr/>
        </p:nvSpPr>
        <p:spPr>
          <a:xfrm>
            <a:off x="483840" y="1118275"/>
            <a:ext cx="10584000" cy="2721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29" b="0">
                <a:solidFill>
                  <a:srgbClr val="B9C6D9"/>
                </a:solidFill>
                <a:latin typeface="Liberation Sans"/>
              </a:rPr>
              <a:t>O que muda é a organização do código — não a obrigação de publicar tudo junto.</a:t>
            </a:r>
          </a:p>
        </p:txBody>
      </p:sp>
      <p:sp>
        <p:nvSpPr>
          <p:cNvPr id="9" name="rect"/>
          <p:cNvSpPr/>
          <p:nvPr/>
        </p:nvSpPr>
        <p:spPr>
          <a:xfrm>
            <a:off x="483840" y="1572480"/>
            <a:ext cx="5443200" cy="3825360"/>
          </a:xfrm>
          <a:prstGeom prst="roundRect">
            <a:avLst>
              <a:gd name="adj" fmla="val 3953"/>
            </a:avLst>
          </a:prstGeom>
          <a:solidFill>
            <a:srgbClr val="192437"/>
          </a:solidFill>
          <a:ln w="11340">
            <a:solidFill>
              <a:srgbClr val="34435A"/>
            </a:solidFill>
          </a:ln>
        </p:spPr>
      </p:sp>
      <p:sp>
        <p:nvSpPr>
          <p:cNvPr id="10" name="rect"/>
          <p:cNvSpPr/>
          <p:nvPr/>
        </p:nvSpPr>
        <p:spPr>
          <a:xfrm>
            <a:off x="710640" y="1799280"/>
            <a:ext cx="340200" cy="340200"/>
          </a:xfrm>
          <a:prstGeom prst="roundRect">
            <a:avLst>
              <a:gd name="adj" fmla="val 24444"/>
            </a:avLst>
          </a:prstGeom>
          <a:solidFill>
            <a:srgbClr val="69DEC0"/>
          </a:solidFill>
          <a:ln w="11340">
            <a:noFill/>
          </a:ln>
        </p:spPr>
      </p:sp>
      <p:sp>
        <p:nvSpPr>
          <p:cNvPr id="11" name="A"/>
          <p:cNvSpPr txBox="1"/>
          <p:nvPr/>
        </p:nvSpPr>
        <p:spPr>
          <a:xfrm>
            <a:off x="808920" y="1853410"/>
            <a:ext cx="264600" cy="3061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607" b="1">
                <a:solidFill>
                  <a:srgbClr val="101827"/>
                </a:solidFill>
                <a:latin typeface="Liberation Sans"/>
              </a:rPr>
              <a:t>A</a:t>
            </a:r>
          </a:p>
        </p:txBody>
      </p:sp>
      <p:sp>
        <p:nvSpPr>
          <p:cNvPr id="12" name="Multirepo"/>
          <p:cNvSpPr txBox="1"/>
          <p:nvPr/>
        </p:nvSpPr>
        <p:spPr>
          <a:xfrm>
            <a:off x="1186920" y="1795954"/>
            <a:ext cx="4158000" cy="3628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905" b="1">
                <a:solidFill>
                  <a:srgbClr val="F5F7FC"/>
                </a:solidFill>
                <a:latin typeface="Liberation Sans"/>
              </a:rPr>
              <a:t>Multirepo</a:t>
            </a:r>
          </a:p>
        </p:txBody>
      </p:sp>
      <p:sp>
        <p:nvSpPr>
          <p:cNvPr id="13" name="Aplicações integradas"/>
          <p:cNvSpPr txBox="1"/>
          <p:nvPr/>
        </p:nvSpPr>
        <p:spPr>
          <a:xfrm>
            <a:off x="1186920" y="2130106"/>
            <a:ext cx="415800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0">
                <a:solidFill>
                  <a:srgbClr val="B9C6D9"/>
                </a:solidFill>
                <a:latin typeface="Liberation Sans"/>
              </a:rPr>
              <a:t>Aplicações integradas</a:t>
            </a:r>
          </a:p>
        </p:txBody>
      </p:sp>
      <p:sp>
        <p:nvSpPr>
          <p:cNvPr id="14" name="rect"/>
          <p:cNvSpPr/>
          <p:nvPr/>
        </p:nvSpPr>
        <p:spPr>
          <a:xfrm>
            <a:off x="6168960" y="1572480"/>
            <a:ext cx="5443200" cy="3825360"/>
          </a:xfrm>
          <a:prstGeom prst="roundRect">
            <a:avLst>
              <a:gd name="adj" fmla="val 3953"/>
            </a:avLst>
          </a:prstGeom>
          <a:solidFill>
            <a:srgbClr val="192437"/>
          </a:solidFill>
          <a:ln w="11340">
            <a:solidFill>
              <a:srgbClr val="34435A"/>
            </a:solidFill>
          </a:ln>
        </p:spPr>
      </p:sp>
      <p:sp>
        <p:nvSpPr>
          <p:cNvPr id="15" name="rect"/>
          <p:cNvSpPr/>
          <p:nvPr/>
        </p:nvSpPr>
        <p:spPr>
          <a:xfrm>
            <a:off x="6395760" y="1799280"/>
            <a:ext cx="340200" cy="340200"/>
          </a:xfrm>
          <a:prstGeom prst="roundRect">
            <a:avLst>
              <a:gd name="adj" fmla="val 24444"/>
            </a:avLst>
          </a:prstGeom>
          <a:solidFill>
            <a:srgbClr val="B9A0FF"/>
          </a:solidFill>
          <a:ln w="11340">
            <a:noFill/>
          </a:ln>
        </p:spPr>
      </p:sp>
      <p:sp>
        <p:nvSpPr>
          <p:cNvPr id="16" name="B"/>
          <p:cNvSpPr txBox="1"/>
          <p:nvPr/>
        </p:nvSpPr>
        <p:spPr>
          <a:xfrm>
            <a:off x="6494040" y="1853410"/>
            <a:ext cx="264600" cy="3061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607" b="1">
                <a:solidFill>
                  <a:srgbClr val="101827"/>
                </a:solidFill>
                <a:latin typeface="Liberation Sans"/>
              </a:rPr>
              <a:t>B</a:t>
            </a:r>
          </a:p>
        </p:txBody>
      </p:sp>
      <p:sp>
        <p:nvSpPr>
          <p:cNvPr id="17" name="Monorepo"/>
          <p:cNvSpPr txBox="1"/>
          <p:nvPr/>
        </p:nvSpPr>
        <p:spPr>
          <a:xfrm>
            <a:off x="6872040" y="1795954"/>
            <a:ext cx="4158000" cy="3628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905" b="1">
                <a:solidFill>
                  <a:srgbClr val="F5F7FC"/>
                </a:solidFill>
                <a:latin typeface="Liberation Sans"/>
              </a:rPr>
              <a:t>Monorepo</a:t>
            </a:r>
          </a:p>
        </p:txBody>
      </p:sp>
      <p:sp>
        <p:nvSpPr>
          <p:cNvPr id="18" name="Aplicações separadas"/>
          <p:cNvSpPr txBox="1"/>
          <p:nvPr/>
        </p:nvSpPr>
        <p:spPr>
          <a:xfrm>
            <a:off x="6872040" y="2130106"/>
            <a:ext cx="415800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0">
                <a:solidFill>
                  <a:srgbClr val="B9C6D9"/>
                </a:solidFill>
                <a:latin typeface="Liberation Sans"/>
              </a:rPr>
              <a:t>Aplicações separadas</a:t>
            </a:r>
          </a:p>
        </p:txBody>
      </p:sp>
      <p:sp>
        <p:nvSpPr>
          <p:cNvPr id="19" name="line"/>
          <p:cNvSpPr/>
          <p:nvPr/>
        </p:nvSpPr>
        <p:spPr>
          <a:xfrm>
            <a:off x="3205440" y="2887920"/>
            <a:ext cx="0" cy="189000"/>
          </a:xfrm>
          <a:prstGeom prst="line">
            <a:avLst/>
          </a:prstGeom>
          <a:noFill/>
          <a:ln w="15120">
            <a:solidFill>
              <a:srgbClr val="69DEC0"/>
            </a:solidFill>
          </a:ln>
        </p:spPr>
      </p:sp>
      <p:sp>
        <p:nvSpPr>
          <p:cNvPr id="20" name="line"/>
          <p:cNvSpPr/>
          <p:nvPr/>
        </p:nvSpPr>
        <p:spPr>
          <a:xfrm>
            <a:off x="1580040" y="3076920"/>
            <a:ext cx="3250800" cy="0"/>
          </a:xfrm>
          <a:prstGeom prst="line">
            <a:avLst/>
          </a:prstGeom>
          <a:noFill/>
          <a:ln w="15120">
            <a:solidFill>
              <a:srgbClr val="69DEC0"/>
            </a:solidFill>
          </a:ln>
        </p:spPr>
      </p:sp>
      <p:sp>
        <p:nvSpPr>
          <p:cNvPr id="21" name="line"/>
          <p:cNvSpPr/>
          <p:nvPr/>
        </p:nvSpPr>
        <p:spPr>
          <a:xfrm>
            <a:off x="1580040" y="3076920"/>
            <a:ext cx="0" cy="113400"/>
          </a:xfrm>
          <a:prstGeom prst="line">
            <a:avLst/>
          </a:prstGeom>
          <a:noFill/>
          <a:ln w="15120">
            <a:solidFill>
              <a:srgbClr val="69DEC0"/>
            </a:solidFill>
          </a:ln>
        </p:spPr>
      </p:sp>
      <p:sp>
        <p:nvSpPr>
          <p:cNvPr id="22" name="line"/>
          <p:cNvSpPr/>
          <p:nvPr/>
        </p:nvSpPr>
        <p:spPr>
          <a:xfrm>
            <a:off x="3205440" y="3076920"/>
            <a:ext cx="0" cy="113400"/>
          </a:xfrm>
          <a:prstGeom prst="line">
            <a:avLst/>
          </a:prstGeom>
          <a:noFill/>
          <a:ln w="15120">
            <a:solidFill>
              <a:srgbClr val="69DEC0"/>
            </a:solidFill>
          </a:ln>
        </p:spPr>
      </p:sp>
      <p:sp>
        <p:nvSpPr>
          <p:cNvPr id="23" name="line"/>
          <p:cNvSpPr/>
          <p:nvPr/>
        </p:nvSpPr>
        <p:spPr>
          <a:xfrm>
            <a:off x="4830840" y="3076920"/>
            <a:ext cx="0" cy="113400"/>
          </a:xfrm>
          <a:prstGeom prst="line">
            <a:avLst/>
          </a:prstGeom>
          <a:noFill/>
          <a:ln w="15120">
            <a:solidFill>
              <a:srgbClr val="69DEC0"/>
            </a:solidFill>
          </a:ln>
        </p:spPr>
      </p:sp>
      <p:sp>
        <p:nvSpPr>
          <p:cNvPr id="24" name="rect"/>
          <p:cNvSpPr/>
          <p:nvPr/>
        </p:nvSpPr>
        <p:spPr>
          <a:xfrm>
            <a:off x="2381400" y="2525040"/>
            <a:ext cx="1648080" cy="362880"/>
          </a:xfrm>
          <a:prstGeom prst="roundRect">
            <a:avLst>
              <a:gd name="adj" fmla="val 18750"/>
            </a:avLst>
          </a:prstGeom>
          <a:solidFill>
            <a:srgbClr val="213C3D"/>
          </a:solidFill>
          <a:ln w="11340">
            <a:solidFill>
              <a:srgbClr val="69DEC0"/>
            </a:solidFill>
          </a:ln>
        </p:spPr>
      </p:sp>
      <p:sp>
        <p:nvSpPr>
          <p:cNvPr id="25" name="planifica-hub"/>
          <p:cNvSpPr txBox="1"/>
          <p:nvPr/>
        </p:nvSpPr>
        <p:spPr>
          <a:xfrm>
            <a:off x="2593080" y="2606386"/>
            <a:ext cx="143640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1">
                <a:solidFill>
                  <a:srgbClr val="69DEC0"/>
                </a:solidFill>
                <a:latin typeface="Liberation Sans"/>
              </a:rPr>
              <a:t>planifica-hub</a:t>
            </a:r>
          </a:p>
        </p:txBody>
      </p:sp>
      <p:sp>
        <p:nvSpPr>
          <p:cNvPr id="26" name="rect"/>
          <p:cNvSpPr/>
          <p:nvPr/>
        </p:nvSpPr>
        <p:spPr>
          <a:xfrm>
            <a:off x="816480" y="3190320"/>
            <a:ext cx="1527120" cy="393120"/>
          </a:xfrm>
          <a:prstGeom prst="roundRect">
            <a:avLst>
              <a:gd name="adj" fmla="val 17308"/>
            </a:avLst>
          </a:prstGeom>
          <a:solidFill>
            <a:srgbClr val="172E33"/>
          </a:solidFill>
          <a:ln w="11340">
            <a:solidFill>
              <a:srgbClr val="69DEC0"/>
            </a:solidFill>
          </a:ln>
        </p:spPr>
      </p:sp>
      <p:sp>
        <p:nvSpPr>
          <p:cNvPr id="27" name="cantina"/>
          <p:cNvSpPr txBox="1"/>
          <p:nvPr/>
        </p:nvSpPr>
        <p:spPr>
          <a:xfrm>
            <a:off x="997920" y="3286786"/>
            <a:ext cx="128520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1">
                <a:solidFill>
                  <a:srgbClr val="F5F7FC"/>
                </a:solidFill>
                <a:latin typeface="Liberation Sans"/>
              </a:rPr>
              <a:t>cantina</a:t>
            </a:r>
          </a:p>
        </p:txBody>
      </p:sp>
      <p:sp>
        <p:nvSpPr>
          <p:cNvPr id="28" name="rect"/>
          <p:cNvSpPr/>
          <p:nvPr/>
        </p:nvSpPr>
        <p:spPr>
          <a:xfrm>
            <a:off x="2441880" y="3190320"/>
            <a:ext cx="1527120" cy="393120"/>
          </a:xfrm>
          <a:prstGeom prst="roundRect">
            <a:avLst>
              <a:gd name="adj" fmla="val 17308"/>
            </a:avLst>
          </a:prstGeom>
          <a:solidFill>
            <a:srgbClr val="172E33"/>
          </a:solidFill>
          <a:ln w="11340">
            <a:solidFill>
              <a:srgbClr val="69DEC0"/>
            </a:solidFill>
          </a:ln>
        </p:spPr>
      </p:sp>
      <p:sp>
        <p:nvSpPr>
          <p:cNvPr id="29" name="horarios"/>
          <p:cNvSpPr txBox="1"/>
          <p:nvPr/>
        </p:nvSpPr>
        <p:spPr>
          <a:xfrm>
            <a:off x="2623320" y="3286786"/>
            <a:ext cx="128520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1">
                <a:solidFill>
                  <a:srgbClr val="F5F7FC"/>
                </a:solidFill>
                <a:latin typeface="Liberation Sans"/>
              </a:rPr>
              <a:t>horarios</a:t>
            </a:r>
          </a:p>
        </p:txBody>
      </p:sp>
      <p:sp>
        <p:nvSpPr>
          <p:cNvPr id="30" name="rect"/>
          <p:cNvSpPr/>
          <p:nvPr/>
        </p:nvSpPr>
        <p:spPr>
          <a:xfrm>
            <a:off x="4067280" y="3190320"/>
            <a:ext cx="1527120" cy="393120"/>
          </a:xfrm>
          <a:prstGeom prst="roundRect">
            <a:avLst>
              <a:gd name="adj" fmla="val 17308"/>
            </a:avLst>
          </a:prstGeom>
          <a:solidFill>
            <a:srgbClr val="172E33"/>
          </a:solidFill>
          <a:ln w="11340">
            <a:solidFill>
              <a:srgbClr val="69DEC0"/>
            </a:solidFill>
          </a:ln>
        </p:spPr>
      </p:sp>
      <p:sp>
        <p:nvSpPr>
          <p:cNvPr id="31" name="chatbot"/>
          <p:cNvSpPr txBox="1"/>
          <p:nvPr/>
        </p:nvSpPr>
        <p:spPr>
          <a:xfrm>
            <a:off x="4248720" y="3286786"/>
            <a:ext cx="128520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1">
                <a:solidFill>
                  <a:srgbClr val="F5F7FC"/>
                </a:solidFill>
                <a:latin typeface="Liberation Sans"/>
              </a:rPr>
              <a:t>chatbot</a:t>
            </a:r>
          </a:p>
        </p:txBody>
      </p:sp>
      <p:sp>
        <p:nvSpPr>
          <p:cNvPr id="32" name="4 repositórios Git · pipelines próprios"/>
          <p:cNvSpPr txBox="1"/>
          <p:nvPr/>
        </p:nvSpPr>
        <p:spPr>
          <a:xfrm>
            <a:off x="756000" y="3700771"/>
            <a:ext cx="4989600" cy="2154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31" b="1">
                <a:solidFill>
                  <a:srgbClr val="69DEC0"/>
                </a:solidFill>
                <a:latin typeface="Liberation Sans"/>
              </a:rPr>
              <a:t>4 repositórios Git · pipelines próprios</a:t>
            </a:r>
          </a:p>
        </p:txBody>
      </p:sp>
      <p:sp>
        <p:nvSpPr>
          <p:cNvPr id="33" name="rect"/>
          <p:cNvSpPr/>
          <p:nvPr/>
        </p:nvSpPr>
        <p:spPr>
          <a:xfrm>
            <a:off x="6410880" y="2525040"/>
            <a:ext cx="4959360" cy="1058400"/>
          </a:xfrm>
          <a:prstGeom prst="roundRect">
            <a:avLst>
              <a:gd name="adj" fmla="val 8571"/>
            </a:avLst>
          </a:prstGeom>
          <a:solidFill>
            <a:srgbClr val="252A43"/>
          </a:solidFill>
          <a:ln w="11340">
            <a:solidFill>
              <a:srgbClr val="B9A0FF"/>
            </a:solidFill>
          </a:ln>
        </p:spPr>
      </p:sp>
      <p:sp>
        <p:nvSpPr>
          <p:cNvPr id="34" name="planifica/  ·  um repositório Git"/>
          <p:cNvSpPr txBox="1"/>
          <p:nvPr/>
        </p:nvSpPr>
        <p:spPr>
          <a:xfrm>
            <a:off x="6577200" y="2613341"/>
            <a:ext cx="4611600" cy="23814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250" b="1">
                <a:solidFill>
                  <a:srgbClr val="B9A0FF"/>
                </a:solidFill>
                <a:latin typeface="Liberation Sans"/>
              </a:rPr>
              <a:t>planifica/  ·  um repositório Git</a:t>
            </a:r>
          </a:p>
        </p:txBody>
      </p:sp>
      <p:sp>
        <p:nvSpPr>
          <p:cNvPr id="35" name="rect"/>
          <p:cNvSpPr/>
          <p:nvPr/>
        </p:nvSpPr>
        <p:spPr>
          <a:xfrm>
            <a:off x="6562080" y="2971080"/>
            <a:ext cx="1073520" cy="446040"/>
          </a:xfrm>
          <a:prstGeom prst="roundRect">
            <a:avLst>
              <a:gd name="adj" fmla="val 13559"/>
            </a:avLst>
          </a:prstGeom>
          <a:solidFill>
            <a:srgbClr val="34334F"/>
          </a:solidFill>
          <a:ln w="11340">
            <a:noFill/>
          </a:ln>
        </p:spPr>
      </p:sp>
      <p:sp>
        <p:nvSpPr>
          <p:cNvPr id="36" name="apps/"/>
          <p:cNvSpPr txBox="1"/>
          <p:nvPr/>
        </p:nvSpPr>
        <p:spPr>
          <a:xfrm>
            <a:off x="6667920" y="3024907"/>
            <a:ext cx="9072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0">
                <a:solidFill>
                  <a:srgbClr val="C8B9EB"/>
                </a:solidFill>
                <a:latin typeface="Liberation Sans"/>
              </a:rPr>
              <a:t>apps/</a:t>
            </a:r>
          </a:p>
        </p:txBody>
      </p:sp>
      <p:sp>
        <p:nvSpPr>
          <p:cNvPr id="37" name="hub"/>
          <p:cNvSpPr txBox="1"/>
          <p:nvPr/>
        </p:nvSpPr>
        <p:spPr>
          <a:xfrm>
            <a:off x="6667920" y="3187296"/>
            <a:ext cx="907200" cy="22680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91" b="1">
                <a:solidFill>
                  <a:srgbClr val="F5F7FC"/>
                </a:solidFill>
                <a:latin typeface="Liberation Sans"/>
              </a:rPr>
              <a:t>hub</a:t>
            </a:r>
          </a:p>
        </p:txBody>
      </p:sp>
      <p:sp>
        <p:nvSpPr>
          <p:cNvPr id="38" name="rect"/>
          <p:cNvSpPr/>
          <p:nvPr/>
        </p:nvSpPr>
        <p:spPr>
          <a:xfrm>
            <a:off x="7756560" y="2971080"/>
            <a:ext cx="1073520" cy="446040"/>
          </a:xfrm>
          <a:prstGeom prst="roundRect">
            <a:avLst>
              <a:gd name="adj" fmla="val 13559"/>
            </a:avLst>
          </a:prstGeom>
          <a:solidFill>
            <a:srgbClr val="34334F"/>
          </a:solidFill>
          <a:ln w="11340">
            <a:noFill/>
          </a:ln>
        </p:spPr>
      </p:sp>
      <p:sp>
        <p:nvSpPr>
          <p:cNvPr id="39" name="apps/"/>
          <p:cNvSpPr txBox="1"/>
          <p:nvPr/>
        </p:nvSpPr>
        <p:spPr>
          <a:xfrm>
            <a:off x="7862400" y="3024907"/>
            <a:ext cx="9072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0">
                <a:solidFill>
                  <a:srgbClr val="C8B9EB"/>
                </a:solidFill>
                <a:latin typeface="Liberation Sans"/>
              </a:rPr>
              <a:t>apps/</a:t>
            </a:r>
          </a:p>
        </p:txBody>
      </p:sp>
      <p:sp>
        <p:nvSpPr>
          <p:cNvPr id="40" name="cantina"/>
          <p:cNvSpPr txBox="1"/>
          <p:nvPr/>
        </p:nvSpPr>
        <p:spPr>
          <a:xfrm>
            <a:off x="7862400" y="3187296"/>
            <a:ext cx="907200" cy="22680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91" b="1">
                <a:solidFill>
                  <a:srgbClr val="F5F7FC"/>
                </a:solidFill>
                <a:latin typeface="Liberation Sans"/>
              </a:rPr>
              <a:t>cantina</a:t>
            </a:r>
          </a:p>
        </p:txBody>
      </p:sp>
      <p:sp>
        <p:nvSpPr>
          <p:cNvPr id="41" name="rect"/>
          <p:cNvSpPr/>
          <p:nvPr/>
        </p:nvSpPr>
        <p:spPr>
          <a:xfrm>
            <a:off x="8951040" y="2971080"/>
            <a:ext cx="1073520" cy="446040"/>
          </a:xfrm>
          <a:prstGeom prst="roundRect">
            <a:avLst>
              <a:gd name="adj" fmla="val 13559"/>
            </a:avLst>
          </a:prstGeom>
          <a:solidFill>
            <a:srgbClr val="34334F"/>
          </a:solidFill>
          <a:ln w="11340">
            <a:noFill/>
          </a:ln>
        </p:spPr>
      </p:sp>
      <p:sp>
        <p:nvSpPr>
          <p:cNvPr id="42" name="apps/"/>
          <p:cNvSpPr txBox="1"/>
          <p:nvPr/>
        </p:nvSpPr>
        <p:spPr>
          <a:xfrm>
            <a:off x="9056880" y="3024907"/>
            <a:ext cx="9072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0">
                <a:solidFill>
                  <a:srgbClr val="C8B9EB"/>
                </a:solidFill>
                <a:latin typeface="Liberation Sans"/>
              </a:rPr>
              <a:t>apps/</a:t>
            </a:r>
          </a:p>
        </p:txBody>
      </p:sp>
      <p:sp>
        <p:nvSpPr>
          <p:cNvPr id="43" name="horarios"/>
          <p:cNvSpPr txBox="1"/>
          <p:nvPr/>
        </p:nvSpPr>
        <p:spPr>
          <a:xfrm>
            <a:off x="9056880" y="3187296"/>
            <a:ext cx="907200" cy="22680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91" b="1">
                <a:solidFill>
                  <a:srgbClr val="F5F7FC"/>
                </a:solidFill>
                <a:latin typeface="Liberation Sans"/>
              </a:rPr>
              <a:t>horarios</a:t>
            </a:r>
          </a:p>
        </p:txBody>
      </p:sp>
      <p:sp>
        <p:nvSpPr>
          <p:cNvPr id="44" name="rect"/>
          <p:cNvSpPr/>
          <p:nvPr/>
        </p:nvSpPr>
        <p:spPr>
          <a:xfrm>
            <a:off x="10145520" y="2971080"/>
            <a:ext cx="1073520" cy="446040"/>
          </a:xfrm>
          <a:prstGeom prst="roundRect">
            <a:avLst>
              <a:gd name="adj" fmla="val 13559"/>
            </a:avLst>
          </a:prstGeom>
          <a:solidFill>
            <a:srgbClr val="34334F"/>
          </a:solidFill>
          <a:ln w="11340">
            <a:noFill/>
          </a:ln>
        </p:spPr>
      </p:sp>
      <p:sp>
        <p:nvSpPr>
          <p:cNvPr id="45" name="apps/"/>
          <p:cNvSpPr txBox="1"/>
          <p:nvPr/>
        </p:nvSpPr>
        <p:spPr>
          <a:xfrm>
            <a:off x="10251360" y="3024907"/>
            <a:ext cx="9072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0">
                <a:solidFill>
                  <a:srgbClr val="C8B9EB"/>
                </a:solidFill>
                <a:latin typeface="Liberation Sans"/>
              </a:rPr>
              <a:t>apps/</a:t>
            </a:r>
          </a:p>
        </p:txBody>
      </p:sp>
      <p:sp>
        <p:nvSpPr>
          <p:cNvPr id="46" name="chatbot"/>
          <p:cNvSpPr txBox="1"/>
          <p:nvPr/>
        </p:nvSpPr>
        <p:spPr>
          <a:xfrm>
            <a:off x="10251360" y="3187296"/>
            <a:ext cx="907200" cy="22680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91" b="1">
                <a:solidFill>
                  <a:srgbClr val="F5F7FC"/>
                </a:solidFill>
                <a:latin typeface="Liberation Sans"/>
              </a:rPr>
              <a:t>chatbot</a:t>
            </a:r>
          </a:p>
        </p:txBody>
      </p:sp>
      <p:sp>
        <p:nvSpPr>
          <p:cNvPr id="47" name="4 aplicações · pacotes compartilhados opcionais"/>
          <p:cNvSpPr txBox="1"/>
          <p:nvPr/>
        </p:nvSpPr>
        <p:spPr>
          <a:xfrm>
            <a:off x="6441120" y="3700771"/>
            <a:ext cx="4989600" cy="2154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31" b="1">
                <a:solidFill>
                  <a:srgbClr val="B9A0FF"/>
                </a:solidFill>
                <a:latin typeface="Liberation Sans"/>
              </a:rPr>
              <a:t>4 aplicações · pacotes compartilhados opcionais</a:t>
            </a:r>
          </a:p>
        </p:txBody>
      </p:sp>
      <p:sp>
        <p:nvSpPr>
          <p:cNvPr id="48" name="line"/>
          <p:cNvSpPr/>
          <p:nvPr/>
        </p:nvSpPr>
        <p:spPr>
          <a:xfrm>
            <a:off x="756000" y="4006800"/>
            <a:ext cx="4898880" cy="0"/>
          </a:xfrm>
          <a:prstGeom prst="line">
            <a:avLst/>
          </a:prstGeom>
          <a:noFill/>
          <a:ln w="15120">
            <a:solidFill>
              <a:srgbClr val="34435A"/>
            </a:solidFill>
          </a:ln>
        </p:spPr>
      </p:sp>
      <p:sp>
        <p:nvSpPr>
          <p:cNvPr id="49" name="PRINCIPAIS GANHOS"/>
          <p:cNvSpPr txBox="1"/>
          <p:nvPr/>
        </p:nvSpPr>
        <p:spPr>
          <a:xfrm>
            <a:off x="756000" y="4121107"/>
            <a:ext cx="48384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1">
                <a:solidFill>
                  <a:srgbClr val="69DEC0"/>
                </a:solidFill>
                <a:latin typeface="Liberation Sans"/>
              </a:rPr>
              <a:t>PRINCIPAIS GANHOS</a:t>
            </a:r>
          </a:p>
        </p:txBody>
      </p:sp>
      <p:sp>
        <p:nvSpPr>
          <p:cNvPr id="50" name="Preserva os projetos e os deploys atuais."/>
          <p:cNvSpPr txBox="1"/>
          <p:nvPr/>
        </p:nvSpPr>
        <p:spPr>
          <a:xfrm>
            <a:off x="756000" y="4307386"/>
            <a:ext cx="489888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0">
                <a:solidFill>
                  <a:srgbClr val="F5F7FC"/>
                </a:solidFill>
                <a:latin typeface="Liberation Sans"/>
              </a:rPr>
              <a:t>Preserva os projetos e os deploys atuais.</a:t>
            </a:r>
          </a:p>
        </p:txBody>
      </p:sp>
      <p:sp>
        <p:nvSpPr>
          <p:cNvPr id="51" name="Permissões de código por repositório."/>
          <p:cNvSpPr txBox="1"/>
          <p:nvPr/>
        </p:nvSpPr>
        <p:spPr>
          <a:xfrm>
            <a:off x="756000" y="4534186"/>
            <a:ext cx="489888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0">
                <a:solidFill>
                  <a:srgbClr val="F5F7FC"/>
                </a:solidFill>
                <a:latin typeface="Liberation Sans"/>
              </a:rPr>
              <a:t>Permissões de código por repositório.</a:t>
            </a:r>
          </a:p>
        </p:txBody>
      </p:sp>
      <p:sp>
        <p:nvSpPr>
          <p:cNvPr id="52" name="ATENÇÃO"/>
          <p:cNvSpPr txBox="1"/>
          <p:nvPr/>
        </p:nvSpPr>
        <p:spPr>
          <a:xfrm>
            <a:off x="756000" y="4839307"/>
            <a:ext cx="48384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1">
                <a:solidFill>
                  <a:srgbClr val="F1C585"/>
                </a:solidFill>
                <a:latin typeface="Liberation Sans"/>
              </a:rPr>
              <a:t>ATENÇÃO</a:t>
            </a:r>
          </a:p>
        </p:txBody>
      </p:sp>
      <p:sp>
        <p:nvSpPr>
          <p:cNvPr id="53" name="Mudanças conjuntas podem exigir vários PRs"/>
          <p:cNvSpPr txBox="1"/>
          <p:nvPr/>
        </p:nvSpPr>
        <p:spPr>
          <a:xfrm>
            <a:off x="756000" y="4993531"/>
            <a:ext cx="4898880" cy="2154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31" b="0">
                <a:solidFill>
                  <a:srgbClr val="B9C6D9"/>
                </a:solidFill>
                <a:latin typeface="Liberation Sans"/>
              </a:rPr>
              <a:t>Mudanças conjuntas podem exigir vários PRs</a:t>
            </a:r>
          </a:p>
        </p:txBody>
      </p:sp>
      <p:sp>
        <p:nvSpPr>
          <p:cNvPr id="54" name="e coordenação de contratos e schemas."/>
          <p:cNvSpPr txBox="1"/>
          <p:nvPr/>
        </p:nvSpPr>
        <p:spPr>
          <a:xfrm>
            <a:off x="756000" y="5182531"/>
            <a:ext cx="4898880" cy="2154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31" b="0">
                <a:solidFill>
                  <a:srgbClr val="B9C6D9"/>
                </a:solidFill>
                <a:latin typeface="Liberation Sans"/>
              </a:rPr>
              <a:t>e coordenação de contratos e schemas.</a:t>
            </a:r>
          </a:p>
        </p:txBody>
      </p:sp>
      <p:sp>
        <p:nvSpPr>
          <p:cNvPr id="55" name="line"/>
          <p:cNvSpPr/>
          <p:nvPr/>
        </p:nvSpPr>
        <p:spPr>
          <a:xfrm>
            <a:off x="6441120" y="4006800"/>
            <a:ext cx="4898880" cy="0"/>
          </a:xfrm>
          <a:prstGeom prst="line">
            <a:avLst/>
          </a:prstGeom>
          <a:noFill/>
          <a:ln w="15120">
            <a:solidFill>
              <a:srgbClr val="34435A"/>
            </a:solidFill>
          </a:ln>
        </p:spPr>
      </p:sp>
      <p:sp>
        <p:nvSpPr>
          <p:cNvPr id="56" name="PRINCIPAIS GANHOS"/>
          <p:cNvSpPr txBox="1"/>
          <p:nvPr/>
        </p:nvSpPr>
        <p:spPr>
          <a:xfrm>
            <a:off x="6441120" y="4121107"/>
            <a:ext cx="48384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1">
                <a:solidFill>
                  <a:srgbClr val="B9A0FF"/>
                </a:solidFill>
                <a:latin typeface="Liberation Sans"/>
              </a:rPr>
              <a:t>PRINCIPAIS GANHOS</a:t>
            </a:r>
          </a:p>
        </p:txBody>
      </p:sp>
      <p:sp>
        <p:nvSpPr>
          <p:cNvPr id="57" name="Um PR pode coordenar várias aplicações."/>
          <p:cNvSpPr txBox="1"/>
          <p:nvPr/>
        </p:nvSpPr>
        <p:spPr>
          <a:xfrm>
            <a:off x="6441120" y="4307386"/>
            <a:ext cx="489888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0">
                <a:solidFill>
                  <a:srgbClr val="F5F7FC"/>
                </a:solidFill>
                <a:latin typeface="Liberation Sans"/>
              </a:rPr>
              <a:t>Um PR pode coordenar várias aplicações.</a:t>
            </a:r>
          </a:p>
        </p:txBody>
      </p:sp>
      <p:sp>
        <p:nvSpPr>
          <p:cNvPr id="58" name="Facilita padrões e código compartilhados."/>
          <p:cNvSpPr txBox="1"/>
          <p:nvPr/>
        </p:nvSpPr>
        <p:spPr>
          <a:xfrm>
            <a:off x="6441120" y="4534186"/>
            <a:ext cx="489888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0">
                <a:solidFill>
                  <a:srgbClr val="F5F7FC"/>
                </a:solidFill>
                <a:latin typeface="Liberation Sans"/>
              </a:rPr>
              <a:t>Facilita padrões e código compartilhados.</a:t>
            </a:r>
          </a:p>
        </p:txBody>
      </p:sp>
      <p:sp>
        <p:nvSpPr>
          <p:cNvPr id="59" name="ATENÇÃO"/>
          <p:cNvSpPr txBox="1"/>
          <p:nvPr/>
        </p:nvSpPr>
        <p:spPr>
          <a:xfrm>
            <a:off x="6441120" y="4839307"/>
            <a:ext cx="48384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1">
                <a:solidFill>
                  <a:srgbClr val="F1C585"/>
                </a:solidFill>
                <a:latin typeface="Liberation Sans"/>
              </a:rPr>
              <a:t>ATENÇÃO</a:t>
            </a:r>
          </a:p>
        </p:txBody>
      </p:sp>
      <p:sp>
        <p:nvSpPr>
          <p:cNvPr id="60" name="Exige adaptar pipelines; o acesso ao código"/>
          <p:cNvSpPr txBox="1"/>
          <p:nvPr/>
        </p:nvSpPr>
        <p:spPr>
          <a:xfrm>
            <a:off x="6441120" y="4993531"/>
            <a:ext cx="4898880" cy="2154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31" b="0">
                <a:solidFill>
                  <a:srgbClr val="B9C6D9"/>
                </a:solidFill>
                <a:latin typeface="Liberation Sans"/>
              </a:rPr>
              <a:t>Exige adaptar pipelines; o acesso ao código</a:t>
            </a:r>
          </a:p>
        </p:txBody>
      </p:sp>
      <p:sp>
        <p:nvSpPr>
          <p:cNvPr id="61" name="geralmente abrange o repositório inteiro."/>
          <p:cNvSpPr txBox="1"/>
          <p:nvPr/>
        </p:nvSpPr>
        <p:spPr>
          <a:xfrm>
            <a:off x="6441120" y="5182531"/>
            <a:ext cx="4898880" cy="2154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131" b="0">
                <a:solidFill>
                  <a:srgbClr val="B9C6D9"/>
                </a:solidFill>
                <a:latin typeface="Liberation Sans"/>
              </a:rPr>
              <a:t>geralmente abrange o repositório inteiro.</a:t>
            </a:r>
          </a:p>
        </p:txBody>
      </p:sp>
      <p:sp>
        <p:nvSpPr>
          <p:cNvPr id="62" name="rect"/>
          <p:cNvSpPr/>
          <p:nvPr/>
        </p:nvSpPr>
        <p:spPr>
          <a:xfrm>
            <a:off x="483840" y="5579280"/>
            <a:ext cx="11128320" cy="642600"/>
          </a:xfrm>
          <a:prstGeom prst="roundRect">
            <a:avLst>
              <a:gd name="adj" fmla="val 16471"/>
            </a:avLst>
          </a:prstGeom>
          <a:solidFill>
            <a:srgbClr val="213044"/>
          </a:solidFill>
          <a:ln w="11340">
            <a:noFill/>
          </a:ln>
        </p:spPr>
      </p:sp>
      <p:sp>
        <p:nvSpPr>
          <p:cNvPr id="63" name="NAS DUAS PROPOSTAS"/>
          <p:cNvSpPr txBox="1"/>
          <p:nvPr/>
        </p:nvSpPr>
        <p:spPr>
          <a:xfrm>
            <a:off x="665280" y="5693587"/>
            <a:ext cx="10584000" cy="15876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833" b="1">
                <a:solidFill>
                  <a:srgbClr val="69DEC0"/>
                </a:solidFill>
                <a:latin typeface="Liberation Sans"/>
              </a:rPr>
              <a:t>NAS DUAS PROPOSTAS</a:t>
            </a:r>
          </a:p>
        </p:txBody>
      </p:sp>
      <p:sp>
        <p:nvSpPr>
          <p:cNvPr id="64" name="Deploys podem ser independentes. Identidade, contratos e acesso aos dados precisam ser definidos."/>
          <p:cNvSpPr txBox="1"/>
          <p:nvPr/>
        </p:nvSpPr>
        <p:spPr>
          <a:xfrm>
            <a:off x="665280" y="5894986"/>
            <a:ext cx="10584000" cy="24948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10" b="0">
                <a:solidFill>
                  <a:srgbClr val="F5F7FC"/>
                </a:solidFill>
                <a:latin typeface="Liberation Sans"/>
              </a:rPr>
              <a:t>Deploys podem ser independentes. Identidade, contratos e acesso aos dados precisam ser definidos.</a:t>
            </a:r>
          </a:p>
        </p:txBody>
      </p:sp>
      <p:sp>
        <p:nvSpPr>
          <p:cNvPr id="65" name="Preservar a estrutura atual → A     |     Centralizar o desenvolvimento → B"/>
          <p:cNvSpPr txBox="1"/>
          <p:nvPr/>
        </p:nvSpPr>
        <p:spPr>
          <a:xfrm>
            <a:off x="483840" y="6326510"/>
            <a:ext cx="10584000" cy="26082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369" b="1">
                <a:solidFill>
                  <a:srgbClr val="F5F7FC"/>
                </a:solidFill>
                <a:latin typeface="Liberation Sans"/>
              </a:rPr>
              <a:t>Preservar a estrutura atual → A     |     Centralizar o desenvolvimento → B</a:t>
            </a:r>
          </a:p>
        </p:txBody>
      </p:sp>
      <p:sp>
        <p:nvSpPr>
          <p:cNvPr id="66" name="Fonte: Panorama.canvas · Propostas em foco · B = monorepo com aplicações separadas neste comparativo."/>
          <p:cNvSpPr txBox="1"/>
          <p:nvPr/>
        </p:nvSpPr>
        <p:spPr>
          <a:xfrm>
            <a:off x="483840" y="6600182"/>
            <a:ext cx="10584000" cy="14742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774" b="0">
                <a:solidFill>
                  <a:srgbClr val="B9C6D9"/>
                </a:solidFill>
                <a:latin typeface="Liberation Sans"/>
              </a:rPr>
              <a:t>Fonte: Panorama.canvas · Propostas em foco · B = monorepo com aplicações separadas neste comparativo.</a:t>
            </a:r>
          </a:p>
        </p:txBody>
      </p:sp>
      <p:sp>
        <p:nvSpPr>
          <p:cNvPr id="67" name="01"/>
          <p:cNvSpPr txBox="1"/>
          <p:nvPr/>
        </p:nvSpPr>
        <p:spPr>
          <a:xfrm>
            <a:off x="11256840" y="6564197"/>
            <a:ext cx="340200" cy="181440"/>
          </a:xfrm>
          <a:prstGeom prst="rect">
            <a:avLst/>
          </a:prstGeom>
          <a:noFill/>
          <a:ln w="1134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952" b="1">
                <a:solidFill>
                  <a:srgbClr val="B9C6D9"/>
                </a:solidFill>
                <a:latin typeface="Liberation Sans"/>
              </a:rP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LibreOffice_project/0fee9b7af4ed8823fb6ed0b53e2a3e73b2087f4b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cp:revision>0</cp:revision>
  <dc:subject/>
  <dc:title/>
</cp:coreProperties>
</file>